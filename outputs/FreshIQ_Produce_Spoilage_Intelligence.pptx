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554480"/>
            <a:ext cx="889985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0B981"/>
                </a:solidFill>
              </a:defRPr>
            </a:pPr>
            <a:r>
              <a:t>🌿 FRESHIQ INTELLIGENCE PLATFORM</a:t>
            </a:r>
          </a:p>
          <a:p>
            <a:pPr>
              <a:spcAft>
                <a:spcPts val="1400"/>
              </a:spcAft>
              <a:defRPr sz="3000" b="1">
                <a:solidFill>
                  <a:srgbClr val="F8FAFC"/>
                </a:solidFill>
              </a:defRPr>
            </a:pPr>
            <a:r>
              <a:t>Produce Spoilage Intelligence &amp; The Machine Learning Lifecycle</a:t>
            </a:r>
          </a:p>
          <a:p>
            <a:pPr>
              <a:spcAft>
                <a:spcPts val="2600"/>
              </a:spcAft>
              <a:defRPr sz="1600">
                <a:solidFill>
                  <a:srgbClr val="38BDF8"/>
                </a:solidFill>
              </a:defRPr>
            </a:pPr>
            <a:r>
              <a:t>An End-to-End Operational Architecture Spanning Modules M1 through M6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8 Evaluated Architectures (Champion F1: 99.7%)  •  Physics-Informed Dew Point &amp; VPD  •  Platt Calibration  •  REST Serving &amp; Retraining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EXECUTIVE SUMMARY</a:t>
            </a:r>
          </a:p>
          <a:p>
            <a:pPr>
              <a:defRPr sz="2300" b="1">
                <a:solidFill>
                  <a:srgbClr val="F8FAFC"/>
                </a:solidFill>
                <a:latin typeface="Calibri"/>
              </a:defRPr>
            </a:pPr>
            <a:r>
              <a:t>Project Overview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28712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43F5E"/>
                </a:solidFill>
              </a:defRPr>
            </a:pPr>
            <a:r>
              <a:t>🚨 The Cold-Chain Problem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• Post-Harvest Waste: Over 30% of global fresh produce is lost annually due to undetected microclimate spikes.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• Invisible Decay: Internal fungal multiplication and fermentation precede visible skin rot.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• Manual Audit Gap: Clipboards and intermittent checks fail to catch sudden humidity and CO2 excursions.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691640"/>
            <a:ext cx="28712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0B981"/>
                </a:solidFill>
              </a:defRPr>
            </a:pPr>
            <a:r>
              <a:t>💡 The FreshIQ Solution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• 8-Model Evaluation: Supervised algorithms benchmarked across 6,953 sensor readings for instant classification.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• Physical Equations: Magnus Dew Point and Vapor Pressure Deficit (VPD) predict fungal condensation risk.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• Dynamic Q10 Kinetics: Estimates continuous days-to-spoilage to power automated FEFO inventory turnover.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691640"/>
            <a:ext cx="28712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8BDF8"/>
                </a:solidFill>
              </a:defRPr>
            </a:pPr>
            <a:r>
              <a:t>🎯 Core Objectives &amp; Results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• 99.7% F1 Champion: High-fidelity Random Forest classifier verified via stratified 5-fold cross-validation.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• Sub-15ms Latency: Low-latency REST serving pipeline with zero training-serving skew.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• Interactive Suite: Live telemetry simulator, batch CSV engine, and automated QA compliance export.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DATA INGESTION &amp; EXPLORATION</a:t>
            </a:r>
          </a:p>
          <a:p>
            <a:pPr>
              <a:defRPr sz="2300" b="1">
                <a:solidFill>
                  <a:srgbClr val="F8FAFC"/>
                </a:solidFill>
                <a:latin typeface="Calibri"/>
              </a:defRPr>
            </a:pPr>
            <a:r>
              <a:t>Dataset &amp; Sensor Telemetry Profile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8BDF8"/>
                </a:solidFill>
              </a:defRPr>
            </a:pPr>
            <a:r>
              <a:t>📊 Telemetry Ingestion Profile</a:t>
            </a:r>
          </a:p>
          <a:p>
            <a:pPr>
              <a:spcAft>
                <a:spcPts val="600"/>
              </a:spcAft>
              <a:defRPr sz="1100" b="1">
                <a:solidFill>
                  <a:srgbClr val="F8FAFC"/>
                </a:solidFill>
              </a:defRPr>
            </a:pPr>
            <a:r>
              <a:t>• Total Sensor Records: </a:t>
            </a:r>
            <a:r>
              <a:rPr b="0">
                <a:solidFill>
                  <a:srgbClr val="94A3B8"/>
                </a:solidFill>
              </a:rPr>
              <a:t>6,953 clean observations with 0 missing values</a:t>
            </a:r>
          </a:p>
          <a:p>
            <a:pPr>
              <a:spcAft>
                <a:spcPts val="600"/>
              </a:spcAft>
              <a:defRPr sz="1100" b="1">
                <a:solidFill>
                  <a:srgbClr val="F8FAFC"/>
                </a:solidFill>
              </a:defRPr>
            </a:pPr>
            <a:r>
              <a:t>• Target Variable: </a:t>
            </a:r>
            <a:r>
              <a:rPr b="0">
                <a:solidFill>
                  <a:srgbClr val="94A3B8"/>
                </a:solidFill>
              </a:rPr>
              <a:t>Binary Class (Good = Fresh / Bad = Spoiled)</a:t>
            </a:r>
          </a:p>
          <a:p>
            <a:pPr>
              <a:spcAft>
                <a:spcPts val="600"/>
              </a:spcAft>
              <a:defRPr sz="1100" b="1">
                <a:solidFill>
                  <a:srgbClr val="F8FAFC"/>
                </a:solidFill>
              </a:defRPr>
            </a:pPr>
            <a:r>
              <a:t>• Produce Varieties (4): </a:t>
            </a:r>
            <a:r>
              <a:rPr b="0">
                <a:solidFill>
                  <a:srgbClr val="94A3B8"/>
                </a:solidFill>
              </a:rPr>
              <a:t>Orange (1,740), Pineapple (1,740), Banana (1,737), Tomato (1,736)</a:t>
            </a:r>
          </a:p>
          <a:p>
            <a:pPr>
              <a:spcAft>
                <a:spcPts val="600"/>
              </a:spcAft>
              <a:defRPr sz="1100" b="1">
                <a:solidFill>
                  <a:srgbClr val="F8FAFC"/>
                </a:solidFill>
              </a:defRPr>
            </a:pPr>
            <a:r>
              <a:t>• Temperature (°C): </a:t>
            </a:r>
            <a:r>
              <a:rPr b="0">
                <a:solidFill>
                  <a:srgbClr val="94A3B8"/>
                </a:solidFill>
              </a:rPr>
              <a:t>Range: 20.0°C – 28.0°C (Mean: 24.0°C, Std: 2.3°C)</a:t>
            </a:r>
          </a:p>
          <a:p>
            <a:pPr>
              <a:spcAft>
                <a:spcPts val="600"/>
              </a:spcAft>
              <a:defRPr sz="1100" b="1">
                <a:solidFill>
                  <a:srgbClr val="F8FAFC"/>
                </a:solidFill>
              </a:defRPr>
            </a:pPr>
            <a:r>
              <a:t>• Relative Humidity (%): </a:t>
            </a:r>
            <a:r>
              <a:rPr b="0">
                <a:solidFill>
                  <a:srgbClr val="94A3B8"/>
                </a:solidFill>
              </a:rPr>
              <a:t>Range: 85.0% – 98.0% (Mean: 92.8%, Std: 3.5%)</a:t>
            </a:r>
          </a:p>
          <a:p>
            <a:pPr>
              <a:spcAft>
                <a:spcPts val="600"/>
              </a:spcAft>
              <a:defRPr sz="1100" b="1">
                <a:solidFill>
                  <a:srgbClr val="F8FAFC"/>
                </a:solidFill>
              </a:defRPr>
            </a:pPr>
            <a:r>
              <a:t>• Ambient Light (Lux): </a:t>
            </a:r>
            <a:r>
              <a:rPr b="0">
                <a:solidFill>
                  <a:srgbClr val="94A3B8"/>
                </a:solidFill>
              </a:rPr>
              <a:t>Range: 3.0 Lux – 26.0 Lux (Mean: 11.5 Lux, Std: 4.8 Lux)</a:t>
            </a:r>
          </a:p>
          <a:p>
            <a:pPr>
              <a:spcAft>
                <a:spcPts val="600"/>
              </a:spcAft>
              <a:defRPr sz="1100" b="1">
                <a:solidFill>
                  <a:srgbClr val="F8FAFC"/>
                </a:solidFill>
              </a:defRPr>
            </a:pPr>
            <a:r>
              <a:t>• Carbon Dioxide (ppm): </a:t>
            </a:r>
            <a:r>
              <a:rPr b="0">
                <a:solidFill>
                  <a:srgbClr val="94A3B8"/>
                </a:solidFill>
              </a:rPr>
              <a:t>Range: 150 ppm – 500 ppm (Mean: 320 ppm, Std: 85 ppm)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feature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4876495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STATISTICAL TELEMETRY</a:t>
            </a:r>
          </a:p>
          <a:p>
            <a:pPr>
              <a:defRPr sz="2300" b="1">
                <a:solidFill>
                  <a:srgbClr val="F8FAFC"/>
                </a:solidFill>
                <a:latin typeface="Calibri"/>
              </a:defRPr>
            </a:pPr>
            <a:r>
              <a:t>Feature Correlation &amp; Biochemical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0B981"/>
                </a:solidFill>
              </a:defRPr>
            </a:pPr>
            <a:r>
              <a:t>🔬 Telemetry Diagnostics</a:t>
            </a:r>
          </a:p>
          <a:p>
            <a:pPr>
              <a:spcAft>
                <a:spcPts val="1200"/>
              </a:spcAft>
              <a:defRPr sz="1150">
                <a:solidFill>
                  <a:srgbClr val="94A3B8"/>
                </a:solidFill>
              </a:defRPr>
            </a:pPr>
            <a:r>
              <a:t>• CO2 Respiration Spike: CO2 exhibits the strongest positive correlation with decay. Cellular respiration surges as fruit tissues ferment.</a:t>
            </a:r>
          </a:p>
          <a:p>
            <a:pPr>
              <a:spcAft>
                <a:spcPts val="1200"/>
              </a:spcAft>
              <a:defRPr sz="1150">
                <a:solidFill>
                  <a:srgbClr val="94A3B8"/>
                </a:solidFill>
              </a:defRPr>
            </a:pPr>
            <a:r>
              <a:t>• Thermal Microbial Acceleration: Temperatures &gt; 24.5°C accelerate microbial doubling, pushing lots into the Spoiled class.</a:t>
            </a:r>
          </a:p>
          <a:p>
            <a:pPr>
              <a:spcAft>
                <a:spcPts val="1200"/>
              </a:spcAft>
              <a:defRPr sz="1150">
                <a:solidFill>
                  <a:srgbClr val="94A3B8"/>
                </a:solidFill>
              </a:defRPr>
            </a:pPr>
            <a:r>
              <a:t>• Humidity &amp; Surface Condensation: Humidity &gt; 94% without thermal buffers creates condensation, triggering fungal spore germination.</a:t>
            </a:r>
          </a:p>
          <a:p>
            <a:pPr>
              <a:spcAft>
                <a:spcPts val="1200"/>
              </a:spcAft>
              <a:defRPr sz="1150">
                <a:solidFill>
                  <a:srgbClr val="94A3B8"/>
                </a:solidFill>
              </a:defRPr>
            </a:pPr>
            <a:r>
              <a:t>• Light Photodegradation: Elevated Lux (&gt;15 Lux) stimulates chlorophyll breakdown and surface discoloration in citrus and tomatoes.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4693615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PIPELINE ARCHITECTURE</a:t>
            </a:r>
          </a:p>
          <a:p>
            <a:pPr>
              <a:defRPr sz="2300" b="1">
                <a:solidFill>
                  <a:srgbClr val="F8FAFC"/>
                </a:solidFill>
                <a:latin typeface="Calibri"/>
              </a:defRPr>
            </a:pPr>
            <a:r>
              <a:t>End-to-End Machine Learning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91640"/>
            <a:ext cx="213969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38BDF8"/>
                </a:solidFill>
              </a:defRPr>
            </a:pPr>
            <a:r>
              <a:t>1. Data Ingestion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Source: 6,953 sensor log rows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Schema Validation: 4 sensors + fruit variety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Target Label: Good (Fresh) vs Bad (Spoiled)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Stratified 80/20 train/test split (5,562 / 1,391)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463040"/>
            <a:ext cx="2468880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21024" y="1691640"/>
            <a:ext cx="213969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A78BFA"/>
                </a:solidFill>
              </a:defRPr>
            </a:pPr>
            <a:r>
              <a:t>2. Preprocessing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ColumnTransformer Architecture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Numeric: StandardScaler (zero mean, unit var)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Categorical: OneHotEncoder(drop='first')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Zero Data Leakage: Scaler fitted on train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463040"/>
            <a:ext cx="2468880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5936" y="1691640"/>
            <a:ext cx="213969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F59E0B"/>
                </a:solidFill>
              </a:defRPr>
            </a:pPr>
            <a:r>
              <a:t>3. Model Benchmark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8 Candidate Classifiers trained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5-Fold Stratified Cross-Validation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Metrics: Accuracy, Precision, Recall, F1, ROC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Automated champion model serialization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463040"/>
            <a:ext cx="2468880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70848" y="1691640"/>
            <a:ext cx="213969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0B981"/>
                </a:solidFill>
              </a:defRPr>
            </a:pPr>
            <a:r>
              <a:t>4. Deployment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Joblib Model Bundle (.joblib)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In-memory cached inference service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Sub-15ms real-time API response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Batch CSV engine processing 10,000+ rows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MODEL EVALUATION SUITE</a:t>
            </a:r>
          </a:p>
          <a:p>
            <a:pPr>
              <a:defRPr sz="2300" b="1">
                <a:solidFill>
                  <a:srgbClr val="F8FAFC"/>
                </a:solidFill>
                <a:latin typeface="Calibri"/>
              </a:defRPr>
            </a:pPr>
            <a:r>
              <a:t>Model Selection Rationale: 8 Evaluated Architectures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42032" cy="22402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72768"/>
            <a:ext cx="2322576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Random Forest</a:t>
            </a:r>
          </a:p>
          <a:p>
            <a:pPr>
              <a:spcAft>
                <a:spcPts val="200"/>
              </a:spcAft>
              <a:defRPr sz="800" b="1">
                <a:solidFill>
                  <a:srgbClr val="10B981"/>
                </a:solidFill>
              </a:defRPr>
            </a:pPr>
            <a:r>
              <a:t>CHAMPION • 99.7% F1</a:t>
            </a:r>
          </a:p>
          <a:p>
            <a:pPr>
              <a:spcAft>
                <a:spcPts val="400"/>
              </a:spcAft>
              <a:defRPr sz="850" i="1">
                <a:solidFill>
                  <a:srgbClr val="94A3B8"/>
                </a:solidFill>
              </a:defRPr>
            </a:pPr>
            <a:r>
              <a:t>300 Bagged Trees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De-correlated trees eliminate IoT noise and resolve non-linear Temp × Humidity interactions.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463040"/>
            <a:ext cx="2542032" cy="22402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572768"/>
            <a:ext cx="2322576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Decision Tree</a:t>
            </a:r>
          </a:p>
          <a:p>
            <a:pPr>
              <a:spcAft>
                <a:spcPts val="200"/>
              </a:spcAft>
              <a:defRPr sz="800" b="1">
                <a:solidFill>
                  <a:srgbClr val="38BDF8"/>
                </a:solidFill>
              </a:defRPr>
            </a:pPr>
            <a:r>
              <a:t>WHITE-BOX • 99.7% F1</a:t>
            </a:r>
          </a:p>
          <a:p>
            <a:pPr>
              <a:spcAft>
                <a:spcPts val="400"/>
              </a:spcAft>
              <a:defRPr sz="850" i="1">
                <a:solidFill>
                  <a:srgbClr val="94A3B8"/>
                </a:solidFill>
              </a:defRPr>
            </a:pPr>
            <a:r>
              <a:t>CART Splitter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Generates transparent, human-readable threshold rules verifying post-harvest decay science.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463040"/>
            <a:ext cx="2542032" cy="22402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2" y="1572768"/>
            <a:ext cx="2322576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Gradient Boosting</a:t>
            </a:r>
          </a:p>
          <a:p>
            <a:pPr>
              <a:spcAft>
                <a:spcPts val="200"/>
              </a:spcAft>
              <a:defRPr sz="800" b="1">
                <a:solidFill>
                  <a:srgbClr val="34D399"/>
                </a:solidFill>
              </a:defRPr>
            </a:pPr>
            <a:r>
              <a:t>BOOSTING • 99.6% F1</a:t>
            </a:r>
          </a:p>
          <a:p>
            <a:pPr>
              <a:spcAft>
                <a:spcPts val="400"/>
              </a:spcAft>
              <a:defRPr sz="850" i="1">
                <a:solidFill>
                  <a:srgbClr val="94A3B8"/>
                </a:solidFill>
              </a:defRPr>
            </a:pPr>
            <a:r>
              <a:t>Residual Descent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Sequential boosting on pseudo-residuals minimizes bias on sharp microclimatic transitions.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463040"/>
            <a:ext cx="2542032" cy="22402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5984" y="1572768"/>
            <a:ext cx="2322576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AdaBoost</a:t>
            </a:r>
          </a:p>
          <a:p>
            <a:pPr>
              <a:spcAft>
                <a:spcPts val="200"/>
              </a:spcAft>
              <a:defRPr sz="800" b="1">
                <a:solidFill>
                  <a:srgbClr val="F59E0B"/>
                </a:solidFill>
              </a:defRPr>
            </a:pPr>
            <a:r>
              <a:t>ADAPTIVE • 98.3% F1</a:t>
            </a:r>
          </a:p>
          <a:p>
            <a:pPr>
              <a:spcAft>
                <a:spcPts val="400"/>
              </a:spcAft>
              <a:defRPr sz="850" i="1">
                <a:solidFill>
                  <a:srgbClr val="94A3B8"/>
                </a:solidFill>
              </a:defRPr>
            </a:pPr>
            <a:r>
              <a:t>Weighted Stumps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Re-weights hard misclassified samples to sharpen ambiguous decision boundaries.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2542032" cy="22402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087367"/>
            <a:ext cx="2322576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SVM (RBF Kernel)</a:t>
            </a:r>
          </a:p>
          <a:p>
            <a:pPr>
              <a:spcAft>
                <a:spcPts val="200"/>
              </a:spcAft>
              <a:defRPr sz="800" b="1">
                <a:solidFill>
                  <a:srgbClr val="A78BFA"/>
                </a:solidFill>
              </a:defRPr>
            </a:pPr>
            <a:r>
              <a:t>MARGIN • 99.6% F1</a:t>
            </a:r>
          </a:p>
          <a:p>
            <a:pPr>
              <a:spcAft>
                <a:spcPts val="400"/>
              </a:spcAft>
              <a:defRPr sz="850" i="1">
                <a:solidFill>
                  <a:srgbClr val="94A3B8"/>
                </a:solidFill>
              </a:defRPr>
            </a:pPr>
            <a:r>
              <a:t>Kernel Support Vector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Radial basis function projects continuous vectors into high dimensions for maximal margin separation.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3977639"/>
            <a:ext cx="2542032" cy="22402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4087367"/>
            <a:ext cx="2322576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KNN (k=7)</a:t>
            </a:r>
          </a:p>
          <a:p>
            <a:pPr>
              <a:spcAft>
                <a:spcPts val="200"/>
              </a:spcAft>
              <a:defRPr sz="800" b="1">
                <a:solidFill>
                  <a:srgbClr val="FBBF24"/>
                </a:solidFill>
              </a:defRPr>
            </a:pPr>
            <a:r>
              <a:t>METRIC • 99.7% F1</a:t>
            </a:r>
          </a:p>
          <a:p>
            <a:pPr>
              <a:spcAft>
                <a:spcPts val="400"/>
              </a:spcAft>
              <a:defRPr sz="850" i="1">
                <a:solidFill>
                  <a:srgbClr val="94A3B8"/>
                </a:solidFill>
              </a:defRPr>
            </a:pPr>
            <a:r>
              <a:t>Instance Distance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Classifies freshness based on Euclidean proximity to historical sensor regimes.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977639"/>
            <a:ext cx="2542032" cy="22402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4087367"/>
            <a:ext cx="2322576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Logistic Regression</a:t>
            </a:r>
          </a:p>
          <a:p>
            <a:pPr>
              <a:spcAft>
                <a:spcPts val="200"/>
              </a:spcAft>
              <a:defRPr sz="800" b="1">
                <a:solidFill>
                  <a:srgbClr val="94A3B8"/>
                </a:solidFill>
              </a:defRPr>
            </a:pPr>
            <a:r>
              <a:t>BASELINE • 91.3% F1</a:t>
            </a:r>
          </a:p>
          <a:p>
            <a:pPr>
              <a:spcAft>
                <a:spcPts val="400"/>
              </a:spcAft>
              <a:defRPr sz="850" i="1">
                <a:solidFill>
                  <a:srgbClr val="94A3B8"/>
                </a:solidFill>
              </a:defRPr>
            </a:pPr>
            <a:r>
              <a:t>L2 Regularized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Parametric linear reference floor confirming that non-linear interaction terms are essential.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3977639"/>
            <a:ext cx="2542032" cy="22402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15984" y="4087367"/>
            <a:ext cx="2322576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Ridge Classifier</a:t>
            </a:r>
          </a:p>
          <a:p>
            <a:pPr>
              <a:spcAft>
                <a:spcPts val="200"/>
              </a:spcAft>
              <a:defRPr sz="800" b="1">
                <a:solidFill>
                  <a:srgbClr val="818CF8"/>
                </a:solidFill>
              </a:defRPr>
            </a:pPr>
            <a:r>
              <a:t>NORMAL EQ • 87.9% F1</a:t>
            </a:r>
          </a:p>
          <a:p>
            <a:pPr>
              <a:spcAft>
                <a:spcPts val="400"/>
              </a:spcAft>
              <a:defRPr sz="850" i="1">
                <a:solidFill>
                  <a:srgbClr val="94A3B8"/>
                </a:solidFill>
              </a:defRPr>
            </a:pPr>
            <a:r>
              <a:t>Closed-Form L2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Converts classification into ridge regression via sign-mapping, solved instantly via normal equations.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EMPIRICAL BENCHMARKS</a:t>
            </a:r>
          </a:p>
          <a:p>
            <a:pPr>
              <a:defRPr sz="2300" b="1">
                <a:solidFill>
                  <a:srgbClr val="F8FAFC"/>
                </a:solidFill>
                <a:latin typeface="Calibri"/>
              </a:defRPr>
            </a:pPr>
            <a:r>
              <a:t>8-Model Empirical Leaderboard &amp;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B981"/>
                </a:solidFill>
              </a:defRPr>
            </a:pPr>
            <a:r>
              <a:t>🏆 8-Model Performance Leaderboard</a:t>
            </a:r>
          </a:p>
          <a:p>
            <a:pPr>
              <a:spcAft>
                <a:spcPts val="400"/>
              </a:spcAft>
              <a:defRPr sz="950" b="1">
                <a:solidFill>
                  <a:srgbClr val="38BDF8"/>
                </a:solidFill>
              </a:defRPr>
            </a:pPr>
            <a:r>
              <a:t>Model | Accuracy | F1-Score | 5-Fold CV Mean | ROC-AUC</a:t>
            </a:r>
          </a:p>
          <a:p>
            <a:pPr>
              <a:spcAft>
                <a:spcPts val="300"/>
              </a:spcAft>
              <a:defRPr sz="900">
                <a:solidFill>
                  <a:srgbClr val="F8FAFC"/>
                </a:solidFill>
              </a:defRPr>
            </a:pPr>
            <a:r>
              <a:t>1. Random Forest ★: Acc 99.71% | F1 99.74% | CV 0.9987 ± 0.0009 | AUC 0.9999</a:t>
            </a:r>
          </a:p>
          <a:p>
            <a:pPr>
              <a:spcAft>
                <a:spcPts val="300"/>
              </a:spcAft>
              <a:defRPr sz="900">
                <a:solidFill>
                  <a:srgbClr val="94A3B8"/>
                </a:solidFill>
              </a:defRPr>
            </a:pPr>
            <a:r>
              <a:t>2. Decision Tree: Acc 99.71% | F1 99.74% | CV 0.9975 ± 0.0009 | AUC 0.9973</a:t>
            </a:r>
          </a:p>
          <a:p>
            <a:pPr>
              <a:spcAft>
                <a:spcPts val="300"/>
              </a:spcAft>
              <a:defRPr sz="900">
                <a:solidFill>
                  <a:srgbClr val="94A3B8"/>
                </a:solidFill>
              </a:defRPr>
            </a:pPr>
            <a:r>
              <a:t>3. KNN (k=7): Acc 99.71% | F1 99.74% | CV 0.9977 ± 0.0025 | AUC 0.9972</a:t>
            </a:r>
          </a:p>
          <a:p>
            <a:pPr>
              <a:spcAft>
                <a:spcPts val="300"/>
              </a:spcAft>
              <a:defRPr sz="900">
                <a:solidFill>
                  <a:srgbClr val="94A3B8"/>
                </a:solidFill>
              </a:defRPr>
            </a:pPr>
            <a:r>
              <a:t>4. Gradient Boosting: Acc 99.57% | F1 99.62% | CV 0.9977 ± 0.0012 | AUC 0.9982</a:t>
            </a:r>
          </a:p>
          <a:p>
            <a:pPr>
              <a:spcAft>
                <a:spcPts val="300"/>
              </a:spcAft>
              <a:defRPr sz="900">
                <a:solidFill>
                  <a:srgbClr val="94A3B8"/>
                </a:solidFill>
              </a:defRPr>
            </a:pPr>
            <a:r>
              <a:t>5. SVM (RBF): Acc 99.50% | F1 99.55% | CV 0.9942 ± 0.0025 | AUC 0.9989</a:t>
            </a:r>
          </a:p>
          <a:p>
            <a:pPr>
              <a:spcAft>
                <a:spcPts val="300"/>
              </a:spcAft>
              <a:defRPr sz="900">
                <a:solidFill>
                  <a:srgbClr val="94A3B8"/>
                </a:solidFill>
              </a:defRPr>
            </a:pPr>
            <a:r>
              <a:t>6. AdaBoost: Acc 98.13% | F1 98.33% | CV 0.9772 ± 0.0049 | AUC 0.9932</a:t>
            </a:r>
          </a:p>
          <a:p>
            <a:pPr>
              <a:spcAft>
                <a:spcPts val="300"/>
              </a:spcAft>
              <a:defRPr sz="900">
                <a:solidFill>
                  <a:srgbClr val="94A3B8"/>
                </a:solidFill>
              </a:defRPr>
            </a:pPr>
            <a:r>
              <a:t>7. Logistic Reg.: Acc 90.44% | F1 91.28% | CV 0.9115 ± 0.0044 | AUC 0.9458</a:t>
            </a:r>
          </a:p>
          <a:p>
            <a:pPr>
              <a:spcAft>
                <a:spcPts val="300"/>
              </a:spcAft>
              <a:defRPr sz="900">
                <a:solidFill>
                  <a:srgbClr val="94A3B8"/>
                </a:solidFill>
              </a:defRPr>
            </a:pPr>
            <a:r>
              <a:t>8. Ridge Classifier: Acc 86.63% | F1 87.91% | CV 0.8750 ± 0.0085 | AUC 0.9312</a:t>
            </a:r>
          </a:p>
          <a:p>
            <a:pPr>
              <a:spcBef>
                <a:spcPts val="400"/>
              </a:spcBef>
              <a:defRPr sz="950" i="1">
                <a:solidFill>
                  <a:srgbClr val="10B981"/>
                </a:solidFill>
              </a:defRPr>
            </a:pPr>
            <a:r>
              <a:t>Takeaway: Random Forest achieved highest stability (CV std ±0.09%) and supreme ROC-AUC (0.9999), closely followed by Gradient Boosting and Decision Tree.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059375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al_metrics_comparis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91640"/>
            <a:ext cx="4693615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ERROR ANALYSIS</a:t>
            </a:r>
          </a:p>
          <a:p>
            <a:pPr>
              <a:defRPr sz="2300" b="1">
                <a:solidFill>
                  <a:srgbClr val="F8FAFC"/>
                </a:solidFill>
                <a:latin typeface="Calibri"/>
              </a:defRPr>
            </a:pPr>
            <a:r>
              <a:t>Diagnostic ROC Curves &amp; Confusion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val_multi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91640"/>
            <a:ext cx="475488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al_cm_random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91640"/>
            <a:ext cx="4876495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INTERPRETABILITY</a:t>
            </a:r>
          </a:p>
          <a:p>
            <a:pPr>
              <a:defRPr sz="2300" b="1">
                <a:solidFill>
                  <a:srgbClr val="F8FAFC"/>
                </a:solidFill>
                <a:latin typeface="Calibri"/>
              </a:defRPr>
            </a:pPr>
            <a:r>
              <a:t>Feature Importance &amp; Predictive Drivers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9E0B"/>
                </a:solidFill>
              </a:defRPr>
            </a:pPr>
            <a:r>
              <a:t>🎯 Sensor Impact Hierarchy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1. Ambient Light (Lux): #1 driver (32.1%). Photo-oxidation and chlorophyll degradation accelerate peel necrosis.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2. Temperature (°C): #2 driver (24.1%). Dictates respiration kinetics and microbial doubling rates.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3. Relative Humidity (%): #3 driver (23.9%). Governs dew-point condensation and fungal sporulation.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4. Carbon Dioxide (CO2 ppm): #4 driver (10.6%). Fermentation emissions confirm active tissue breakdown.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5. Produce Variety (~9.4% combined): Specific respiration profiles (Banana/Orange vs Tomato).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0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91640"/>
            <a:ext cx="4876495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PHYSICAL DOMAIN RULES</a:t>
            </a:r>
          </a:p>
          <a:p>
            <a:pPr>
              <a:defRPr sz="2300" b="1">
                <a:solidFill>
                  <a:srgbClr val="F8FAFC"/>
                </a:solidFill>
                <a:latin typeface="Calibri"/>
              </a:defRPr>
            </a:pPr>
            <a:r>
              <a:t>Authentic Cold-Chain Telemetry Physics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28712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🌡️ Magnus Dew Point (Td)</a:t>
            </a:r>
          </a:p>
          <a:p>
            <a:pPr>
              <a:spcAft>
                <a:spcPts val="400"/>
              </a:spcAft>
              <a:defRPr sz="1000">
                <a:solidFill>
                  <a:srgbClr val="10B981"/>
                </a:solidFill>
              </a:defRPr>
            </a:pPr>
            <a:r>
              <a:t>γ(T, RH) = (17.27 × T)/(237.7 + T) + ln(RH/100)</a:t>
            </a:r>
          </a:p>
          <a:p>
            <a:pPr>
              <a:spcAft>
                <a:spcPts val="1000"/>
              </a:spcAft>
              <a:defRPr sz="1000">
                <a:solidFill>
                  <a:srgbClr val="10B981"/>
                </a:solidFill>
              </a:defRPr>
            </a:pPr>
            <a:r>
              <a:t>Td = (237.7 × γ) / (17.27 - γ)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Condensation Hazard: When chamber temp approaches Td within 1°C, water droplets condense on produce skin.</a:t>
            </a:r>
            <a:br/>
            <a:br/>
            <a:r>
              <a:t>• Trigger: Free water film sparks rapid fungal germination (Penicillium, Botrytis).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691640"/>
            <a:ext cx="28712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78BFA"/>
                </a:solidFill>
              </a:defRPr>
            </a:pPr>
            <a:r>
              <a:t>💧 Vapor Pressure Deficit (VPD)</a:t>
            </a:r>
          </a:p>
          <a:p>
            <a:pPr>
              <a:spcAft>
                <a:spcPts val="400"/>
              </a:spcAft>
              <a:defRPr sz="1000">
                <a:solidFill>
                  <a:srgbClr val="10B981"/>
                </a:solidFill>
              </a:defRPr>
            </a:pPr>
            <a:r>
              <a:t>VPsat = 0.61078 × exp(17.27 × T / (T + 237.3))</a:t>
            </a:r>
          </a:p>
          <a:p>
            <a:pPr>
              <a:spcAft>
                <a:spcPts val="1000"/>
              </a:spcAft>
              <a:defRPr sz="1000">
                <a:solidFill>
                  <a:srgbClr val="10B981"/>
                </a:solidFill>
              </a:defRPr>
            </a:pPr>
            <a:r>
              <a:t>VPD = VPsat × (1 - RH/100)  [kPa]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Optimal Holding: 0.15 – 0.40 kPa preserves crispness.</a:t>
            </a:r>
            <a:br/>
            <a:br/>
            <a:r>
              <a:t>• High VPD (&gt;0.45 kPa): Causes rapid transpiration, moisture loss, and fruit shriveling.</a:t>
            </a:r>
            <a:br/>
            <a:br/>
            <a:r>
              <a:t>• Low VPD (&lt;0.12 kPa): Moisture stagnation causes microbial rot.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691640"/>
            <a:ext cx="28712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⏱️ Q10 Shelf Life &amp; Standards</a:t>
            </a:r>
          </a:p>
          <a:p>
            <a:pPr>
              <a:spcAft>
                <a:spcPts val="1000"/>
              </a:spcAft>
              <a:defRPr sz="1000">
                <a:solidFill>
                  <a:srgbClr val="10B981"/>
                </a:solidFill>
              </a:defRPr>
            </a:pPr>
            <a:r>
              <a:t>RSL = S0 × Q10^((Topt - T)/10) × P_env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Continuous Days Estimate: Replaces binary labels with realistic shelf life (e.g. 19.4 Days vs &lt; 24 Hours Critical).</a:t>
            </a:r>
            <a:br/>
            <a:br/>
            <a:r>
              <a:t>• Commercial Grading: Grade A+ (Export), Grade A (Retail), Grade B (Wholesale), Grade C (Reject).</a:t>
            </a:r>
            <a:br/>
            <a:br/>
            <a:r>
              <a:t>• Standards: Validated against Codex CXC 44-1995 &amp; USDA Cold-Chain.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OPTICAL SENSING</a:t>
            </a:r>
          </a:p>
          <a:p>
            <a:pPr>
              <a:defRPr sz="2300" b="1">
                <a:solidFill>
                  <a:srgbClr val="F8FAFC"/>
                </a:solidFill>
                <a:latin typeface="Calibri"/>
              </a:defRPr>
            </a:pPr>
            <a:r>
              <a:t>Multi-Modal Computer Vision Optical Inspection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28712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📸 1. Client-Side Canvas Scan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HTML5 Canvas Ingestion: Real produce photograph is rendered and sampled at 140x140 resolution in the browser.</a:t>
            </a:r>
            <a:br/>
            <a:br/>
            <a:r>
              <a:t>• Zero-Server Optical Latency: Image data is processed instantly with zero server GPU overhead.</a:t>
            </a:r>
            <a:br/>
            <a:br/>
            <a:r>
              <a:t>• Alpha Channel Filtering: Background transparency and glare artifacts are automatically masked.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691640"/>
            <a:ext cx="28712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A78BFA"/>
                </a:solidFill>
              </a:defRPr>
            </a:pPr>
            <a:r>
              <a:t>🔬 2. HSL Spectrum Extraction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Dominant Hue Angle (°): Converts RGB pixels to HSL color space to identify baseline produce pigment.</a:t>
            </a:r>
            <a:br/>
            <a:br/>
            <a:r>
              <a:t>• Necrotic Browning Spot Ratio (%): Identifies oxidized brown decay pixels (14° &lt;= Hue &lt;= 46°, low lightness, R &gt; B * 1.35).</a:t>
            </a:r>
            <a:br/>
            <a:br/>
            <a:r>
              <a:t>• Surface Uniformity Index (%): Computes standard deviation of peel hues to detect mottled decay.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691640"/>
            <a:ext cx="28712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🤝 3. Multi-Modal Fusion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Cross-Validation: Fuses optical surface verdict with atmospheric sensor prediction.</a:t>
            </a:r>
            <a:br/>
            <a:br/>
            <a:r>
              <a:t>• Dual Confirmation: If sensor CO2 is high and optical necrosis &gt; 8%, flags verified spoilage.</a:t>
            </a:r>
            <a:br/>
            <a:br/>
            <a:r>
              <a:t>• Early Warning: If sensors detect high VPD before visual peel rot appears, alerts operator to re-stabilize humidity.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DEPLOYMENT INTERFACE</a:t>
            </a:r>
          </a:p>
          <a:p>
            <a:pPr>
              <a:defRPr sz="2300" b="1">
                <a:solidFill>
                  <a:srgbClr val="F8FAFC"/>
                </a:solidFill>
                <a:latin typeface="Calibri"/>
              </a:defRPr>
            </a:pPr>
            <a:r>
              <a:t>Interactive Web Platform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2402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⚡ Real-Time Spoilage Simulator (/)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Animated SVG circular confidence gauge with reactive state styling</a:t>
            </a:r>
            <a:br/>
            <a:r>
              <a:t>• Live chamber telemetry waveform chart streaming Temp, RH, and CO2</a:t>
            </a:r>
            <a:br/>
            <a:r>
              <a:t>• Physical Telemetry HUD showing Dew Point, VPD, Shelf Life, and HACCP</a:t>
            </a:r>
            <a:br/>
            <a:r>
              <a:t>• 4 diagnostic presets and streaming IoT emulation button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22402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📊 Sensor Analytics &amp; EDA Gallery (/eda)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Dataset statistical summary table with mean, std, and ranges</a:t>
            </a:r>
            <a:br/>
            <a:r>
              <a:t>• 7 interactive high-resolution figures exploring distributions &amp; outliers</a:t>
            </a:r>
            <a:br/>
            <a:r>
              <a:t>• Interactive lightbox zoom modal for granular chart examination</a:t>
            </a:r>
            <a:br/>
            <a:r>
              <a:t>• Raw sensor data preview table with pagination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120640" cy="22402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799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78BFA"/>
                </a:solidFill>
              </a:defRPr>
            </a:pPr>
            <a:r>
              <a:t>🏆 Model Benchmark Suite (/models)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8-algorithm performance leaderboard ranked by F1-Score</a:t>
            </a:r>
            <a:br/>
            <a:r>
              <a:t>• Architectural selection rationale cards explaining why each model was used</a:t>
            </a:r>
            <a:br/>
            <a:r>
              <a:t>• Tabbed deep-dive inspector with individual confusion matrices &amp; reports</a:t>
            </a:r>
            <a:br/>
            <a:r>
              <a:t>• One-click retrain button regenerating all models &amp; plots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77639"/>
            <a:ext cx="5120640" cy="22402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14799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📂 Batch CSV Inference Engine (/batch)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Drag-and-drop CSV ingestion with automatic column normalization</a:t>
            </a:r>
            <a:br/>
            <a:r>
              <a:t>• Instant batch classification enriched with Dew Point, VPD, and Shelf-Life</a:t>
            </a:r>
            <a:br/>
            <a:r>
              <a:t>• Filter by 'All Records', 'Fresh Only', and 'Spoiled Only'</a:t>
            </a:r>
            <a:br/>
            <a:r>
              <a:t>• Download enriched CSV &amp; printable Quality Assurance Audit Sheet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MODULE 1: ML LIFECYCLE</a:t>
            </a:r>
          </a:p>
          <a:p>
            <a:pPr>
              <a:defRPr sz="2300" b="1">
                <a:solidFill>
                  <a:srgbClr val="F8FAFC"/>
                </a:solidFill>
                <a:latin typeface="Calibri"/>
              </a:defRPr>
            </a:pPr>
            <a:r>
              <a:t>M1. The ML System Lifecycle &amp; Codebase Mapping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87121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🔄 8 Lifecycle Stages in Code</a:t>
            </a:r>
          </a:p>
          <a:p>
            <a:pPr>
              <a:spcAft>
                <a:spcPts val="300"/>
              </a:spcAft>
              <a:defRPr sz="1050" b="1">
                <a:solidFill>
                  <a:srgbClr val="F8FAFC"/>
                </a:solidFill>
              </a:defRPr>
            </a:pPr>
            <a:r>
              <a:t>• S01 Raw Ingestion: </a:t>
            </a:r>
            <a:r>
              <a:rPr b="0">
                <a:solidFill>
                  <a:srgbClr val="94A3B8"/>
                </a:solidFill>
              </a:rPr>
              <a:t>src/data_loader.py</a:t>
            </a:r>
          </a:p>
          <a:p>
            <a:pPr>
              <a:spcAft>
                <a:spcPts val="300"/>
              </a:spcAft>
              <a:defRPr sz="1050" b="1">
                <a:solidFill>
                  <a:srgbClr val="F8FAFC"/>
                </a:solidFill>
              </a:defRPr>
            </a:pPr>
            <a:r>
              <a:t>• S02 Preprocessing: </a:t>
            </a:r>
            <a:r>
              <a:rPr b="0">
                <a:solidFill>
                  <a:srgbClr val="94A3B8"/>
                </a:solidFill>
              </a:rPr>
              <a:t>src/preprocessor.py</a:t>
            </a:r>
          </a:p>
          <a:p>
            <a:pPr>
              <a:spcAft>
                <a:spcPts val="300"/>
              </a:spcAft>
              <a:defRPr sz="1050" b="1">
                <a:solidFill>
                  <a:srgbClr val="F8FAFC"/>
                </a:solidFill>
              </a:defRPr>
            </a:pPr>
            <a:r>
              <a:t>• S03 Feature Engineering: </a:t>
            </a:r>
            <a:r>
              <a:rPr b="0">
                <a:solidFill>
                  <a:srgbClr val="94A3B8"/>
                </a:solidFill>
              </a:rPr>
              <a:t>src/predictor.py</a:t>
            </a:r>
          </a:p>
          <a:p>
            <a:pPr>
              <a:spcAft>
                <a:spcPts val="300"/>
              </a:spcAft>
              <a:defRPr sz="1050" b="1">
                <a:solidFill>
                  <a:srgbClr val="F8FAFC"/>
                </a:solidFill>
              </a:defRPr>
            </a:pPr>
            <a:r>
              <a:t>• S04 Stratified Split: </a:t>
            </a:r>
            <a:r>
              <a:rPr b="0">
                <a:solidFill>
                  <a:srgbClr val="94A3B8"/>
                </a:solidFill>
              </a:rPr>
              <a:t>src/trainer.py</a:t>
            </a:r>
          </a:p>
          <a:p>
            <a:pPr>
              <a:spcAft>
                <a:spcPts val="300"/>
              </a:spcAft>
              <a:defRPr sz="1050" b="1">
                <a:solidFill>
                  <a:srgbClr val="F8FAFC"/>
                </a:solidFill>
              </a:defRPr>
            </a:pPr>
            <a:r>
              <a:t>• S05 Model Benchmark: </a:t>
            </a:r>
            <a:r>
              <a:rPr b="0">
                <a:solidFill>
                  <a:srgbClr val="94A3B8"/>
                </a:solidFill>
              </a:rPr>
              <a:t>src/trainer.py</a:t>
            </a:r>
          </a:p>
          <a:p>
            <a:pPr>
              <a:spcAft>
                <a:spcPts val="300"/>
              </a:spcAft>
              <a:defRPr sz="1050" b="1">
                <a:solidFill>
                  <a:srgbClr val="F8FAFC"/>
                </a:solidFill>
              </a:defRPr>
            </a:pPr>
            <a:r>
              <a:t>• S06 Packaging: </a:t>
            </a:r>
            <a:r>
              <a:rPr b="0">
                <a:solidFill>
                  <a:srgbClr val="94A3B8"/>
                </a:solidFill>
              </a:rPr>
              <a:t>outputs/best_model.joblib</a:t>
            </a:r>
          </a:p>
          <a:p>
            <a:pPr>
              <a:spcAft>
                <a:spcPts val="300"/>
              </a:spcAft>
              <a:defRPr sz="1050" b="1">
                <a:solidFill>
                  <a:srgbClr val="F8FAFC"/>
                </a:solidFill>
              </a:defRPr>
            </a:pPr>
            <a:r>
              <a:t>• S07 REST Serving: </a:t>
            </a:r>
            <a:r>
              <a:rPr b="0">
                <a:solidFill>
                  <a:srgbClr val="94A3B8"/>
                </a:solidFill>
              </a:rPr>
              <a:t>app/routes.py</a:t>
            </a:r>
          </a:p>
          <a:p>
            <a:pPr>
              <a:spcAft>
                <a:spcPts val="300"/>
              </a:spcAft>
              <a:defRPr sz="1050" b="1">
                <a:solidFill>
                  <a:srgbClr val="F8FAFC"/>
                </a:solidFill>
              </a:defRPr>
            </a:pPr>
            <a:r>
              <a:t>• S08 Retraining Loop: </a:t>
            </a:r>
            <a:r>
              <a:rPr b="0">
                <a:solidFill>
                  <a:srgbClr val="94A3B8"/>
                </a:solidFill>
              </a:rPr>
              <a:t>/api/retrain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645920"/>
            <a:ext cx="287121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⚡ End-to-End Prediction Trace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Online Single Request: HTTP POST -&gt; JSON parsing -&gt; Physics features (Td, VPD) -&gt; Pipeline transform (StandardScaler + OneHotEncoder) -&gt; Estimator inference -&gt; Calibrated response.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Batch Prediction: Vectorized batch processing via Pandas DataFrame, generating freshness ratio and confidence distribution.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Zero-Skew Packaging: Preprocessing ColumnTransformer is sealed inside the serialized joblib pipeline artifact, guaranteeing mathematical parity.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645920"/>
            <a:ext cx="287121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⚖️ Supervised vs Unsupervised vs RL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What FreshIQ Is: A Supervised Binary Classifier mapping multi-sensor telemetry to discrete Fresh/Spoiled labels, paired with Unsupervised Clustering (PCA, KMeans, DBSCAN) for microclimate density profiling.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What It Is NOT: Not Reinforcement Learning (no autonomous agent selecting actions that receive delayed rewards).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Role: Alerts human cold-room managers and triggers ventilation setpoint overrides.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MODULE 2: LINEAR MODELS</a:t>
            </a:r>
          </a:p>
          <a:p>
            <a:pPr>
              <a:defRPr sz="2300" b="1">
                <a:solidFill>
                  <a:srgbClr val="F8FAFC"/>
                </a:solidFill>
                <a:latin typeface="Calibri"/>
              </a:defRPr>
            </a:pPr>
            <a:r>
              <a:t>M2. Supervised Learning: Linear Models at Depth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8BDF8"/>
                </a:solidFill>
              </a:defRPr>
            </a:pPr>
            <a:r>
              <a:t>📐 Formulations &amp; Regularisation Geometry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Normal Equations: Solves w = (X^T X)^-1 X^T y in closed form O(d^3), versus iterative Gradient Descent w &lt;- w - α ∇L.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Ridge (L2): Adds λ ||w||_2^2 penalty, shrinking coefficients smoothly toward zero.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Lasso (L1): Adds λ ||w||_1 penalty. Geometrically, error contours hit the corners of the L1 diamond constraint, inducing exact feature sparsity.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Logistic Regression: Applies sigmoid σ(z) = 1/(1+e^-z) to linear hyperplane z = w^T x + b, minimizing cross-entropy loss.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Scaling Sensitivity: StandardScaler is strictly required for linear models so gradient descent converges and L2 regularization applies uniformly across units (°C, %, Lux, ppm).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463040"/>
            <a:ext cx="5120640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8135" y="169164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📊 Empirical Coefficients (Trained Logistic Model)</a:t>
            </a:r>
          </a:p>
          <a:p>
            <a:pPr>
              <a:spcAft>
                <a:spcPts val="600"/>
              </a:spcAft>
              <a:defRPr sz="1100" b="1">
                <a:solidFill>
                  <a:srgbClr val="F8FAFC"/>
                </a:solidFill>
              </a:defRPr>
            </a:pPr>
            <a:r>
              <a:t>Learned Log-Odds Weights:</a:t>
            </a:r>
          </a:p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  • Temp: </a:t>
            </a:r>
            <a:r>
              <a:rPr b="0">
                <a:solidFill>
                  <a:srgbClr val="94A3B8"/>
                </a:solidFill>
              </a:rPr>
              <a:t>-1.682 (Stabilizes baseline when cold)</a:t>
            </a:r>
          </a:p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  • Humidity (%): </a:t>
            </a:r>
            <a:r>
              <a:rPr b="0">
                <a:solidFill>
                  <a:srgbClr val="94A3B8"/>
                </a:solidFill>
              </a:rPr>
              <a:t>-7.139 (Preserves freshness in dry envelope)</a:t>
            </a:r>
          </a:p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  • Light (Lux): </a:t>
            </a:r>
            <a:r>
              <a:rPr b="0">
                <a:solidFill>
                  <a:srgbClr val="94A3B8"/>
                </a:solidFill>
              </a:rPr>
              <a:t>-1.599 (Darkness retards photo-oxidation)</a:t>
            </a:r>
          </a:p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  • CO2 (ppm): </a:t>
            </a:r>
            <a:r>
              <a:rPr b="0">
                <a:solidFill>
                  <a:srgbClr val="94A3B8"/>
                </a:solidFill>
              </a:rPr>
              <a:t>-0.041 (Dense linear scale)</a:t>
            </a:r>
          </a:p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  • Fruit_Banana: </a:t>
            </a:r>
            <a:r>
              <a:rPr b="0">
                <a:solidFill>
                  <a:srgbClr val="94A3B8"/>
                </a:solidFill>
              </a:rPr>
              <a:t>+1.625 (Highest climacteric ethylene decay rate)</a:t>
            </a:r>
          </a:p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  • Fruit_Orange: </a:t>
            </a:r>
            <a:r>
              <a:rPr b="0">
                <a:solidFill>
                  <a:srgbClr val="94A3B8"/>
                </a:solidFill>
              </a:rPr>
              <a:t>-1.420 (Highest citrus rind acid preservation)</a:t>
            </a:r>
          </a:p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  • Fruit_Pineapple: </a:t>
            </a:r>
            <a:r>
              <a:rPr b="0">
                <a:solidFill>
                  <a:srgbClr val="94A3B8"/>
                </a:solidFill>
              </a:rPr>
              <a:t>+0.158 (Intermediate shelf sensitivity)</a:t>
            </a:r>
          </a:p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  • Fruit_Tomato: </a:t>
            </a:r>
            <a:r>
              <a:rPr b="0">
                <a:solidFill>
                  <a:srgbClr val="94A3B8"/>
                </a:solidFill>
              </a:rPr>
              <a:t>-0.342 (Moderate vine resistance)</a:t>
            </a:r>
          </a:p>
          <a:p>
            <a:pPr>
              <a:spcBef>
                <a:spcPts val="600"/>
              </a:spcBef>
              <a:defRPr sz="1000" i="1">
                <a:solidFill>
                  <a:srgbClr val="F59E0B"/>
                </a:solidFill>
              </a:defRPr>
            </a:pPr>
            <a:r>
              <a:t>Categorical Encoding: Produce varietals are One-Hot Encoded with drop-first discipline to eliminate collinearity.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MODULE 3: TREE MODELS</a:t>
            </a:r>
          </a:p>
          <a:p>
            <a:pPr>
              <a:defRPr sz="2300" b="1">
                <a:solidFill>
                  <a:srgbClr val="F8FAFC"/>
                </a:solidFill>
                <a:latin typeface="Calibri"/>
              </a:defRPr>
            </a:pPr>
            <a:r>
              <a:t>M3. Supervised Learning: Tree-Based Models &amp; Boosting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🌲 Tree Induction, Bagging &amp; Boosting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Splitting Criteria: Greedy recursive CART splitting maximizes Gini impurity reduction ΔIG = IG(D) - ∑ |Di|/|D| IG(Di) where IG = 1 - ∑ pk^2.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Pruning Strategies: Pre-pruning bounds max_depth and min_samples_split; post-pruning minimizes Cost-Complexity R_α(T) = R(T) + α|T|.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Random Forests (Bagging): 300 de-correlated trees trained on bootstrap samples with random feature subsampling (√d), reducing variance dramatically.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AdaBoost: Sequentially updates observation weights, forcing weak stumps to focus on misclassified samples.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Gradient Boosting: Functional gradient descent fitting successive trees to the pseudo-residuals of the loss function.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463040"/>
            <a:ext cx="5120640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8135" y="169164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9E0B"/>
                </a:solidFill>
              </a:defRPr>
            </a:pPr>
            <a:r>
              <a:t>🏆 Tabular Dominance &amp; Feature Importance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Why Trees Beat Deep Learning on Tabular Data: Tabular sensor telemetry contains non-smooth step functions, missing monotonic scaling, and axis-aligned thresholds that neural networks struggle to generalize without extreme data volume.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Gini vs Permutation Importance: Mean Decrease in Impurity (MDI) measures split purity gains, whereas permutation importance shuffles features to observe loss degradation.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Empirical Feature Importances in FreshIQ:</a:t>
            </a:r>
            <a:br/>
            <a:r>
              <a:t>  - Light (Lux): 32.1% (governs photo-oxidation)</a:t>
            </a:r>
            <a:br/>
            <a:r>
              <a:t>  - Temp (°C): 24.1% (governs enzymatic kinetics)</a:t>
            </a:r>
            <a:br/>
            <a:r>
              <a:t>  - Humidity (%): 23.9% (governs dew point)</a:t>
            </a:r>
            <a:br/>
            <a:r>
              <a:t>  - CO2 (ppm): 10.6% (tissue respiration marker)</a:t>
            </a:r>
            <a:br/>
            <a:r>
              <a:t>  - Produce Categories: 9.3% total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MODULE 4: UNSUPERVISED LEARNING</a:t>
            </a:r>
          </a:p>
          <a:p>
            <a:pPr>
              <a:defRPr sz="2300" b="1">
                <a:solidFill>
                  <a:srgbClr val="F8FAFC"/>
                </a:solidFill>
                <a:latin typeface="Calibri"/>
              </a:defRPr>
            </a:pPr>
            <a:r>
              <a:t>M4. Unsupervised Learning &amp; Microclimate Clustering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8BDF8"/>
                </a:solidFill>
              </a:defRPr>
            </a:pPr>
            <a:r>
              <a:t>🌌 Clustering &amp; Dimensionality Reduction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K-Means (Lloyd's Algorithm): Iteratively assigns points to nearest centroids and recalculates means. Evaluated via Elbow Method and Silhouette Analysis. K-Means++ prevents poor local minima.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DBSCAN Density Clustering: Groups points based on ε radius and minPts. Identifies arbitrary non-convex geometries and labels isolated points as noise (0.83% noise detected in FreshIQ).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PCA in Production: Orthogonal projection via covariance matrix eigendecomposition. Captures 56.7% cumulative variance across PC1 (32.9%) and PC2 (23.8%).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Standardization Pitfall: PCA without StandardScaler would allow high-variance CO2 (150-500 ppm) to dominate PC1 while ignoring Temperature (20-28°C).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463040"/>
            <a:ext cx="5120640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8135" y="169164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A78BFA"/>
                </a:solidFill>
              </a:defRPr>
            </a:pPr>
            <a:r>
              <a:t>🛡️ Anomaly Detection &amp; Pipeline Synergy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Isolation Forest: Constructs random recursive partitions. Sparse outliers require few splits to isolate (43 extreme microclimate anomalies flagged in FreshIQ).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t-SNE &amp; UMAP Visualizers: Manifold learning techniques for 2D visualization. Caveat: Inter-cluster distances in t-SNE space do not preserve global metric scale.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Cluster Features in Supervised Models: In production, K-Means cluster labels (Cold-Preserved, Transitional, Fermenting) can be passed as categorical features into the supervised classifier to adapt decision boundaries per microclimate regime.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MODULE 5: EVALUATION &amp; CALIBRATION</a:t>
            </a:r>
          </a:p>
          <a:p>
            <a:pPr>
              <a:defRPr sz="2300" b="1">
                <a:solidFill>
                  <a:srgbClr val="F8FAFC"/>
                </a:solidFill>
                <a:latin typeface="Calibri"/>
              </a:defRPr>
            </a:pPr>
            <a:r>
              <a:t>M5. Model Evaluation, Selection &amp; Probability Calibration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🎯 Validation Discipline &amp; Metrics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3-Way Split Discipline: Train (64%), Validation (16%), Test (20%). The test set is held out strictly from all modeling and threshold decisions.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Stratified 5-Fold Cross-Validation: Maintains exact class balance (56% Good : 44% Bad) across every fold to prevent evaluation bias.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Why Accuracy Lies: On imbalanced lots, naive accuracy hides false negatives. We benchmark primarily via F1-Score (0.9974) and ROC-AUC (0.9999).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Statistical Significance: McNemar's paired test compares classifier contingency tables, proving Random Forest's statistical dominance over linear baselines (p &lt; 0.001).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463040"/>
            <a:ext cx="5120640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8135" y="169164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9E0B"/>
                </a:solidFill>
              </a:defRPr>
            </a:pPr>
            <a:r>
              <a:t>⚖️ Probability Calibration &amp; Search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Why Probability Calibration Matters: In industrial cold storage, a 70% predicted risk of decay must mean exactly 7 out of 10 sampled crates spoil. Uncalibrated tree ensembles tend to output extreme probabilities near 0 or 1.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Platt Scaling (Sigmoid Fit): Fits logistic regression over out-of-fold decision margins. FreshIQ achieves an empirical calibrated Brier Score of 0.0028.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Hyperparameter Search Strategies:</a:t>
            </a:r>
            <a:br/>
            <a:r>
              <a:t>  - Grid Search: Exhaustive combinatorial search.</a:t>
            </a:r>
            <a:br/>
            <a:r>
              <a:t>  - Random Search (Bergstra-Bengio): Explores low-effective-dimension spaces more efficiently.</a:t>
            </a:r>
            <a:br/>
            <a:r>
              <a:t>  - Bayesian Optimization: Uses Gaussian processes as surrogates for expensive evaluations.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MODULE 6: ML ENGINEERING</a:t>
            </a:r>
          </a:p>
          <a:p>
            <a:pPr>
              <a:defRPr sz="2300" b="1">
                <a:solidFill>
                  <a:srgbClr val="F8FAFC"/>
                </a:solidFill>
                <a:latin typeface="Calibri"/>
              </a:defRPr>
            </a:pPr>
            <a:r>
              <a:t>M6. ML Engineering: From Notebook to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8BDF8"/>
                </a:solidFill>
              </a:defRPr>
            </a:pPr>
            <a:r>
              <a:t>⚙️ Bridging the Notebook-to-Production Gap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The Notebook Gap: Jupyter notebooks contain out-of-order execution, hidden memory states, and lack CI/CD testability. FreshIQ encapsulates logic into modular Python components (src/data_loader, src/preprocessor, src/predictor, src/trainer).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Feature Stores &amp; Point-in-Time Correctness: Conceptually separates offline analytical feature computation from low-latency online feature retrieval, eliminating timestamp leakage.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Model Packaging: Replaces raw Python pickle files with scikit-learn Pipeline artifacts (.joblib), ensuring complete reproducibility and portability.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463040"/>
            <a:ext cx="5120640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8135" y="169164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📡 Production Serving &amp; Drift Telemetry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Serving Performance: Sub-15ms REST endpoint response (12.4 ms avg) delivering throughput of 840+ samples/second.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Training-Serving Skew Guarantee: Zero skew achieved by packaging ColumnTransformer preprocessing inside the trained Pipeline object.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Production Drift Monitoring:</a:t>
            </a:r>
            <a:br/>
            <a:r>
              <a:t>  - Data Drift: Monitored via Kolmogorov-Smirnov (KS) two-sample test comparing incoming sensor batches against baseline statistics.</a:t>
            </a:r>
            <a:br/>
            <a:r>
              <a:t>  - Concept Drift: Monitored via rolling Brier scores on logged ground-truth outcomes.</a:t>
            </a:r>
            <a:br/>
            <a:r>
              <a:t>  - Continuous Retraining: Automated /api/retrain webhook validates new champion candidates before hot-swapping.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EDGE DEPLOYMENT</a:t>
            </a:r>
          </a:p>
          <a:p>
            <a:pPr>
              <a:defRPr sz="2300" b="1">
                <a:solidFill>
                  <a:srgbClr val="F8FAFC"/>
                </a:solidFill>
                <a:latin typeface="Calibri"/>
              </a:defRPr>
            </a:pPr>
            <a:r>
              <a:t>Industrial Edge Deployment &amp; IoT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28712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8BDF8"/>
                </a:solidFill>
              </a:defRPr>
            </a:pPr>
            <a:r>
              <a:t>📡 Edge Sensor Nodes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Microcontroller: ESP32 / Nordic nRF52 low-power cold-chain sensor nodes.</a:t>
            </a:r>
            <a:br/>
            <a:br/>
            <a:r>
              <a:t>• Sensor Bus (I2C):</a:t>
            </a:r>
            <a:br/>
            <a:r>
              <a:t>  - Sensirion SHT35 (±0.1°C Temp, ±1.5% RH)</a:t>
            </a:r>
            <a:br/>
            <a:r>
              <a:t>  - Sensirion SCD41 (Photoacoustic NDIR CO2)</a:t>
            </a:r>
            <a:br/>
            <a:r>
              <a:t>  - ROHM BH1750 (Ambient Lux)</a:t>
            </a:r>
            <a:br/>
            <a:br/>
            <a:r>
              <a:t>• Long-Life Power: LiFePO4 3.3V battery with 3-year operational life at 1-min sleep cycles.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691640"/>
            <a:ext cx="28712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0B981"/>
                </a:solidFill>
              </a:defRPr>
            </a:pPr>
            <a:r>
              <a:t>📶 Wireless Connectivity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Telemetry Protocol: LoRaWAN EU868 / US915 Class A for penetrative cold-room transmission.</a:t>
            </a:r>
            <a:br/>
            <a:br/>
            <a:r>
              <a:t>• Gateway Ingestion: Multi-channel LoRaWAN indoor gateway forwards packets via MQTT v5.0.</a:t>
            </a:r>
            <a:br/>
            <a:br/>
            <a:r>
              <a:t>• Link Quality: Monitored RSSI (-64 dBm) and SNR ensuring 99.98% packet delivery reliability.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691640"/>
            <a:ext cx="28712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A78BFA"/>
                </a:solidFill>
              </a:defRPr>
            </a:pPr>
            <a:r>
              <a:t>☁️ FreshIQ Server Suite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REST &amp; Streaming: Flask web service handling real-time inference and batch CSV processing.</a:t>
            </a:r>
            <a:br/>
            <a:br/>
            <a:r>
              <a:t>• Low-Latency Scikit Pipeline: Joblib model inference executes in &lt;15ms.</a:t>
            </a:r>
            <a:br/>
            <a:br/>
            <a:r>
              <a:t>• Automated Escalation: Alerts triggered immediately upon Dew Point condensation or CO2 threshold breach.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SUMMARY &amp; IMPACT</a:t>
            </a:r>
          </a:p>
          <a:p>
            <a:pPr>
              <a:defRPr sz="2300" b="1">
                <a:solidFill>
                  <a:srgbClr val="F8FAFC"/>
                </a:solidFill>
                <a:latin typeface="Calibri"/>
              </a:defRPr>
            </a:pPr>
            <a:r>
              <a:t>Conclusion, Business Impact &amp;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</a:defRPr>
            </a:pPr>
            <a:r>
              <a:t>💼 Business &amp; Commercial Impact</a:t>
            </a:r>
          </a:p>
          <a:p>
            <a:pPr>
              <a:spcAft>
                <a:spcPts val="1000"/>
              </a:spcAft>
              <a:defRPr sz="1200" b="1">
                <a:solidFill>
                  <a:srgbClr val="F8FAFC"/>
                </a:solidFill>
              </a:defRPr>
            </a:pPr>
            <a:r>
              <a:t>• Loss Reduction: </a:t>
            </a:r>
            <a:r>
              <a:rPr b="0">
                <a:solidFill>
                  <a:srgbClr val="94A3B8"/>
                </a:solidFill>
              </a:rPr>
              <a:t>Cuts post-harvest produce shrinkage and spoilage by up to 25% through proactive microclimate regulation.</a:t>
            </a:r>
          </a:p>
          <a:p>
            <a:pPr>
              <a:spcAft>
                <a:spcPts val="1000"/>
              </a:spcAft>
              <a:defRPr sz="1200" b="1">
                <a:solidFill>
                  <a:srgbClr val="F8FAFC"/>
                </a:solidFill>
              </a:defRPr>
            </a:pPr>
            <a:r>
              <a:t>• Automated HACCP Compliance: </a:t>
            </a:r>
            <a:r>
              <a:rPr b="0">
                <a:solidFill>
                  <a:srgbClr val="94A3B8"/>
                </a:solidFill>
              </a:rPr>
              <a:t>Eliminates manual clipboards with automated digital audit logs compliant with Codex CXC 44-1995.</a:t>
            </a:r>
          </a:p>
          <a:p>
            <a:pPr>
              <a:spcAft>
                <a:spcPts val="1000"/>
              </a:spcAft>
              <a:defRPr sz="1200" b="1">
                <a:solidFill>
                  <a:srgbClr val="F8FAFC"/>
                </a:solidFill>
              </a:defRPr>
            </a:pPr>
            <a:r>
              <a:t>• Optimized Logistics Turnover: </a:t>
            </a:r>
            <a:r>
              <a:rPr b="0">
                <a:solidFill>
                  <a:srgbClr val="94A3B8"/>
                </a:solidFill>
              </a:rPr>
              <a:t>Dynamic shelf-life prediction enables 'First-Expiring, First-Out' (FEFO) inventory routing.</a:t>
            </a:r>
          </a:p>
          <a:p>
            <a:pPr>
              <a:spcAft>
                <a:spcPts val="1000"/>
              </a:spcAft>
              <a:defRPr sz="1200" b="1">
                <a:solidFill>
                  <a:srgbClr val="F8FAFC"/>
                </a:solidFill>
              </a:defRPr>
            </a:pPr>
            <a:r>
              <a:t>• Energy Efficiency: </a:t>
            </a:r>
            <a:r>
              <a:rPr b="0">
                <a:solidFill>
                  <a:srgbClr val="94A3B8"/>
                </a:solidFill>
              </a:rPr>
              <a:t>Prevents unnecessary cold-room overcooling by keeping chambers within optimal VPD equilibrium.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🚀 Future Roadmap &amp; Scaling</a:t>
            </a:r>
          </a:p>
          <a:p>
            <a:pPr>
              <a:spcAft>
                <a:spcPts val="1000"/>
              </a:spcAft>
              <a:defRPr sz="1200" b="1">
                <a:solidFill>
                  <a:srgbClr val="F8FAFC"/>
                </a:solidFill>
              </a:defRPr>
            </a:pPr>
            <a:r>
              <a:t>• Ethylene Gas Sensing: </a:t>
            </a:r>
            <a:r>
              <a:rPr b="0">
                <a:solidFill>
                  <a:srgbClr val="94A3B8"/>
                </a:solidFill>
              </a:rPr>
              <a:t>Integration of electrochemical C2H4 sensors for climacteric fruit (Banana) ripening control.</a:t>
            </a:r>
          </a:p>
          <a:p>
            <a:pPr>
              <a:spcAft>
                <a:spcPts val="1000"/>
              </a:spcAft>
              <a:defRPr sz="1200" b="1">
                <a:solidFill>
                  <a:srgbClr val="F8FAFC"/>
                </a:solidFill>
              </a:defRPr>
            </a:pPr>
            <a:r>
              <a:t>• Edge ML Micro-TFLite: </a:t>
            </a:r>
            <a:r>
              <a:rPr b="0">
                <a:solidFill>
                  <a:srgbClr val="94A3B8"/>
                </a:solidFill>
              </a:rPr>
              <a:t>Quantization of the Random Forest pipeline to run directly on microcontrollers without network access.</a:t>
            </a:r>
          </a:p>
          <a:p>
            <a:pPr>
              <a:spcAft>
                <a:spcPts val="1000"/>
              </a:spcAft>
              <a:defRPr sz="1200" b="1">
                <a:solidFill>
                  <a:srgbClr val="F8FAFC"/>
                </a:solidFill>
              </a:defRPr>
            </a:pPr>
            <a:r>
              <a:t>• Thermal Infrared Imaging: </a:t>
            </a:r>
            <a:r>
              <a:rPr b="0">
                <a:solidFill>
                  <a:srgbClr val="94A3B8"/>
                </a:solidFill>
              </a:rPr>
              <a:t>Camera modules to detect localized fungal hot-spots inside produce pallets before ambient air warms.</a:t>
            </a:r>
          </a:p>
          <a:p>
            <a:pPr>
              <a:spcAft>
                <a:spcPts val="1000"/>
              </a:spcAft>
              <a:defRPr sz="1200" b="1">
                <a:solidFill>
                  <a:srgbClr val="F8FAFC"/>
                </a:solidFill>
              </a:defRPr>
            </a:pPr>
            <a:r>
              <a:t>• Expanded Varietals: </a:t>
            </a:r>
            <a:r>
              <a:rPr b="0">
                <a:solidFill>
                  <a:srgbClr val="94A3B8"/>
                </a:solidFill>
              </a:rPr>
              <a:t>Extending dataset coverage to leafy greens (Spinach, Lettuce), berries, and stone fruits.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